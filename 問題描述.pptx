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99" r:id="rId2"/>
    <p:sldId id="258" r:id="rId3"/>
    <p:sldId id="298" r:id="rId4"/>
    <p:sldId id="305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65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9094A-6673-4839-9843-0E5DDE80E8EB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2AC1F-9EBF-4E4C-9D58-774082CF05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9981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TW" altLang="en-US"/>
              <a:t>現有的推薦系統有兩種機制，一是根據熱銷程度推薦；另外一種是根據商品之間的購買關聯性，</a:t>
            </a:r>
            <a:endParaRPr lang="en-US" altLang="zh-TW"/>
          </a:p>
          <a:p>
            <a:r>
              <a:rPr lang="zh-TW" altLang="en-US"/>
              <a:t>但以這些系統有以下的缺點：沒</a:t>
            </a:r>
          </a:p>
        </p:txBody>
      </p:sp>
    </p:spTree>
    <p:extLst>
      <p:ext uri="{BB962C8B-B14F-4D97-AF65-F5344CB8AC3E}">
        <p14:creationId xmlns:p14="http://schemas.microsoft.com/office/powerpoint/2010/main" val="806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751E49-3CD0-D283-8895-B2A90A317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662DDEF-1D3E-A468-E4C4-73B4FF5E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DEB4CC5-EB60-E66F-4C99-1811F4903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68FF1-B1FD-4FA9-80B0-E2530E232A1C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B8F293-3334-E888-DD22-5429287DB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3115D5-A332-2DBE-4425-850890A84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89ED-9171-4B5E-AA56-AFB7BBC5E2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565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DF49DD-D233-4B63-9902-19A1876B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AA473A-F787-E40C-E554-8B9164310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0CC36A-B71D-16F2-0DE7-0A5AF702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68FF1-B1FD-4FA9-80B0-E2530E232A1C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50EA39-68C2-C04E-0E9A-C83A90FBD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E8F457-A22E-DCD3-6AA4-506EFE6E9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89ED-9171-4B5E-AA56-AFB7BBC5E2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563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6F4347-6F28-F814-92C6-FFDCCE4CD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3DDEBC-7C81-6985-C543-834E79136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8A2F29-AF9F-D44B-0E94-15D00D2D5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68FF1-B1FD-4FA9-80B0-E2530E232A1C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40239F-DE5B-A1A1-3EBC-E527A0289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11B05C-C531-6C45-2C8C-97BF4617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89ED-9171-4B5E-AA56-AFB7BBC5E2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816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0E7687-3FE1-D217-0587-10338F98D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F8AA9D-FA33-C8D2-4EDD-E9A2EF0D16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71A0767-8E37-9BB6-6578-B60BD37D0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5EAD59-E33C-CE2C-D87C-5DE87058B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68FF1-B1FD-4FA9-80B0-E2530E232A1C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6C6378-5EE9-CEC5-DAF8-08AE6815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6C608A-1DFE-731F-BF2E-BF95759E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89ED-9171-4B5E-AA56-AFB7BBC5E2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2349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0F9B17-226E-1033-CAFE-7F9586639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9B7D9D1-96F9-77B8-4044-563E5C360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3F81E4-D2AA-4174-65AA-2775013C7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0223462-1413-3B94-8C9A-5181664F36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93012C9-5C9B-94FD-8F83-DAFBAB68D6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CE55ADF-7DBC-78EF-3C16-DDF694F5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68FF1-B1FD-4FA9-80B0-E2530E232A1C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F0D7131-7D39-0D13-4EE3-F1FC6238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253954A-C345-66D8-8063-D46BB1E02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89ED-9171-4B5E-AA56-AFB7BBC5E2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855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DE722E-5635-812A-4A0F-6C52DEBE1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77DB958-510F-8E26-6F91-288695F5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68FF1-B1FD-4FA9-80B0-E2530E232A1C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45685A4-4FC0-ABF5-8761-B28B24A07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12ED9A-5B14-CFAE-7255-AEC4DF39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89ED-9171-4B5E-AA56-AFB7BBC5E2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854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E34D798-7B07-45BE-39A5-713A8EF31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68FF1-B1FD-4FA9-80B0-E2530E232A1C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8F936-88AC-2D4A-A054-903E5EDE1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7C1BB3-FF99-7C12-BAA9-3EA869367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89ED-9171-4B5E-AA56-AFB7BBC5E2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356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E506C-7CEE-1D1D-D3F5-59E0B788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2B1312-C10B-7EC2-444C-C5586079C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CE0324E-B2A4-D47D-1F51-30128B2AF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CBC305-9B0F-7319-B588-E0EDD4B8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68FF1-B1FD-4FA9-80B0-E2530E232A1C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00E58B-006B-7884-07D1-2D664A885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7334D3-C3A6-281A-BFA3-6941C3B71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89ED-9171-4B5E-AA56-AFB7BBC5E2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2107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AFB71D-14EF-72F9-C9BD-3424A6F1F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F6AB7D2-071C-70EA-0D10-E384A4A04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2A6B948-6E76-3681-714C-E1F2CC2E3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37F158F-3359-1F00-641A-257D61E7A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68FF1-B1FD-4FA9-80B0-E2530E232A1C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1561BA-6B1A-988C-A668-D1B98AC1F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D68EB5C-DBC5-CAEA-B43A-972E9E310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89ED-9171-4B5E-AA56-AFB7BBC5E2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066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04CD36-5993-1709-4AC5-6134C63E2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5496F6F-2B6D-06F3-A8F9-C17EAD74C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76ACB6-764E-9B21-708F-86BC987F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68FF1-B1FD-4FA9-80B0-E2530E232A1C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C9A50B-2E33-72CE-B0E3-387F357BE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DC7AC2-E6F0-F068-C874-7F36F764F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89ED-9171-4B5E-AA56-AFB7BBC5E2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0286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2034FB9-9E9A-FCD8-414E-486FA0F8A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25E4459-1B8D-4403-1518-378A84CD0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53BE40-CD34-DBD3-1D5B-6CB10D8F1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68FF1-B1FD-4FA9-80B0-E2530E232A1C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EB1EE6-724E-A770-370C-7DA503389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B84506-30C6-DD59-A5E4-BFB6BEEB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89ED-9171-4B5E-AA56-AFB7BBC5E2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906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F53BD15-A41F-1571-ED4C-DBAA21D73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CAAEA3-7041-CABD-9421-FC929A35D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27C86F-5107-DB55-4F86-C439499BF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868FF1-B1FD-4FA9-80B0-E2530E232A1C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7A097E-B794-B73C-7E36-5ABE6F9F99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D24550-F84C-8D52-BD66-45142185E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3F89ED-9171-4B5E-AA56-AFB7BBC5E2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70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1991544" y="0"/>
            <a:ext cx="74676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TW" altLang="en-US" sz="4000" dirty="0">
                <a:solidFill>
                  <a:srgbClr val="00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問題描述</a:t>
            </a:r>
          </a:p>
        </p:txBody>
      </p:sp>
      <p:sp>
        <p:nvSpPr>
          <p:cNvPr id="12291" name="內容版面配置區 3"/>
          <p:cNvSpPr>
            <a:spLocks noGrp="1"/>
          </p:cNvSpPr>
          <p:nvPr>
            <p:ph sz="quarter" idx="1"/>
          </p:nvPr>
        </p:nvSpPr>
        <p:spPr>
          <a:xfrm>
            <a:off x="1991545" y="1268761"/>
            <a:ext cx="8291513" cy="4873625"/>
          </a:xfrm>
        </p:spPr>
        <p:txBody>
          <a:bodyPr/>
          <a:lstStyle/>
          <a:p>
            <a:pPr algn="just"/>
            <a:r>
              <a:rPr lang="zh-TW" altLang="zh-TW" sz="20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現今的音樂推薦系統主要運作方式為：使用者可對系統推薦的音樂</a:t>
            </a:r>
            <a:r>
              <a:rPr lang="en-US" altLang="zh-TW" sz="20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20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以下稱音樂為</a:t>
            </a:r>
            <a:r>
              <a:rPr lang="en-US" altLang="zh-TW" sz="20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item)</a:t>
            </a:r>
            <a:r>
              <a:rPr lang="zh-TW" altLang="zh-TW" sz="20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給予</a:t>
            </a:r>
            <a:r>
              <a:rPr lang="en-US" altLang="zh-TW" sz="20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zh-TW" sz="20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</a:t>
            </a:r>
            <a:r>
              <a:rPr lang="en-US" altLang="zh-TW" sz="20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zh-TW" sz="20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分的評分，喜歡程度由</a:t>
            </a:r>
            <a:r>
              <a:rPr lang="en-US" altLang="zh-TW" sz="20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zh-TW" sz="20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分開始遞減，而</a:t>
            </a:r>
            <a:r>
              <a:rPr lang="en-US" altLang="zh-TW" sz="20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zh-TW" sz="20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分則代表這個使用者從未對此音樂評過分</a:t>
            </a:r>
            <a:endParaRPr lang="en-US" altLang="zh-TW" sz="2000" cap="small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sz="20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系統每次在推薦音樂的過程中，可分為兩個主要的階段：</a:t>
            </a:r>
            <a:endParaRPr lang="en-US" altLang="zh-TW" sz="2000" cap="small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zh-TW" sz="20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第一階段：音樂評分預測</a:t>
            </a:r>
            <a:endParaRPr lang="en-US" altLang="zh-TW" sz="2000" cap="small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zh-TW" sz="20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第二階段：音樂排序挑選</a:t>
            </a:r>
            <a:endParaRPr lang="zh-TW" altLang="en-US" sz="2000" cap="small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292" name="投影片編號版面配置區 1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fld id="{CEE39823-9B25-4195-99FA-CA6C9F2D7656}" type="slidenum">
              <a:rPr lang="zh-TW" altLang="en-US" smtClean="0">
                <a:ea typeface="新細明體" pitchFamily="18" charset="-120"/>
              </a:rPr>
              <a:pPr/>
              <a:t>1</a:t>
            </a:fld>
            <a:endParaRPr lang="en-US" altLang="zh-TW">
              <a:ea typeface="新細明體" pitchFamily="18" charset="-12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927649" y="3933056"/>
          <a:ext cx="6264695" cy="1828800"/>
        </p:xfrm>
        <a:graphic>
          <a:graphicData uri="http://schemas.openxmlformats.org/drawingml/2006/table">
            <a:tbl>
              <a:tblPr/>
              <a:tblGrid>
                <a:gridCol w="864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35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7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1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2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3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4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5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6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1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2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ea typeface="新細明體"/>
                          <a:cs typeface="Times New Roman"/>
                        </a:rPr>
                        <a:t>5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3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4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lang="zh-TW" sz="2000" kern="100" dirty="0">
                        <a:solidFill>
                          <a:srgbClr val="FF0000"/>
                        </a:solidFill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1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5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fld id="{FF64713A-0A2D-4011-9B68-D9A5DE5E8D2C}" type="slidenum">
              <a:rPr lang="zh-TW" altLang="en-US" smtClean="0">
                <a:solidFill>
                  <a:schemeClr val="tx1"/>
                </a:solidFill>
                <a:ea typeface="新細明體" pitchFamily="18" charset="-120"/>
              </a:rPr>
              <a:pPr/>
              <a:t>2</a:t>
            </a:fld>
            <a:endParaRPr lang="en-US" altLang="zh-TW">
              <a:solidFill>
                <a:schemeClr val="tx1"/>
              </a:solidFill>
              <a:ea typeface="新細明體" pitchFamily="18" charset="-12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92313" y="260350"/>
            <a:ext cx="7467600" cy="1143000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zh-TW" altLang="en-US" sz="4000" dirty="0">
                <a:solidFill>
                  <a:srgbClr val="00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研究動機</a:t>
            </a:r>
          </a:p>
        </p:txBody>
      </p:sp>
      <p:sp>
        <p:nvSpPr>
          <p:cNvPr id="13316" name="Rectangle 6"/>
          <p:cNvSpPr>
            <a:spLocks noGrp="1"/>
          </p:cNvSpPr>
          <p:nvPr>
            <p:ph type="body" idx="4294967295"/>
          </p:nvPr>
        </p:nvSpPr>
        <p:spPr>
          <a:xfrm>
            <a:off x="2135560" y="1268761"/>
            <a:ext cx="7467600" cy="4873625"/>
          </a:xfrm>
        </p:spPr>
        <p:txBody>
          <a:bodyPr/>
          <a:lstStyle/>
          <a:p>
            <a:r>
              <a:rPr lang="zh-TW" altLang="en-US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現有音樂推薦系統的缺點：</a:t>
            </a:r>
          </a:p>
          <a:p>
            <a:pPr lvl="1"/>
            <a:r>
              <a:rPr lang="zh-TW" altLang="en-US" sz="22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新音樂的問題</a:t>
            </a:r>
            <a:endParaRPr lang="en-US" altLang="zh-TW" sz="2200" cap="small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zh-TW" sz="22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新使用者的問題</a:t>
            </a:r>
          </a:p>
          <a:p>
            <a:pPr lvl="1"/>
            <a:r>
              <a:rPr lang="zh-TW" altLang="zh-TW" sz="2200" cap="sm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評分資料矩陣稀疏的問題</a:t>
            </a:r>
          </a:p>
          <a:p>
            <a:pPr lvl="1"/>
            <a:endParaRPr lang="zh-TW" altLang="zh-TW" dirty="0"/>
          </a:p>
          <a:p>
            <a:pPr lvl="1">
              <a:buFont typeface="Wingdings 2" pitchFamily="18" charset="2"/>
              <a:buNone/>
            </a:pPr>
            <a:endParaRPr kumimoji="1" lang="zh-TW" altLang="en-US" sz="2700" b="1" dirty="0">
              <a:solidFill>
                <a:srgbClr val="244583"/>
              </a:solidFill>
              <a:ea typeface="微軟正黑體" pitchFamily="34" charset="-120"/>
            </a:endParaRPr>
          </a:p>
        </p:txBody>
      </p:sp>
      <p:sp>
        <p:nvSpPr>
          <p:cNvPr id="13317" name="Rectangle 3"/>
          <p:cNvSpPr txBox="1">
            <a:spLocks noChangeArrowheads="1"/>
          </p:cNvSpPr>
          <p:nvPr/>
        </p:nvSpPr>
        <p:spPr bwMode="auto">
          <a:xfrm>
            <a:off x="1919289" y="981076"/>
            <a:ext cx="8353425" cy="533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chemeClr val="accent1"/>
              </a:buClr>
            </a:pPr>
            <a:endParaRPr lang="zh-TW" altLang="en-US" sz="2400" b="1">
              <a:solidFill>
                <a:srgbClr val="244583"/>
              </a:solidFill>
              <a:latin typeface="Century Schoolbook" pitchFamily="18" charset="0"/>
              <a:ea typeface="微軟正黑體" pitchFamily="34" charset="-120"/>
            </a:endParaRPr>
          </a:p>
          <a:p>
            <a:pPr marL="273050" indent="-273050">
              <a:spcBef>
                <a:spcPct val="20000"/>
              </a:spcBef>
              <a:buClr>
                <a:schemeClr val="accent1"/>
              </a:buClr>
            </a:pPr>
            <a:endParaRPr lang="zh-TW" altLang="en-US" sz="2400">
              <a:latin typeface="Century Schoolbook" pitchFamily="18" charset="0"/>
            </a:endParaRPr>
          </a:p>
          <a:p>
            <a:pPr marL="273050" indent="-273050">
              <a:spcBef>
                <a:spcPct val="20000"/>
              </a:spcBef>
              <a:buClr>
                <a:schemeClr val="accent1"/>
              </a:buClr>
            </a:pPr>
            <a:endParaRPr lang="zh-TW" altLang="zh-TW" sz="2400">
              <a:latin typeface="Century Schoolbook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927649" y="3573016"/>
          <a:ext cx="6264695" cy="1828800"/>
        </p:xfrm>
        <a:graphic>
          <a:graphicData uri="http://schemas.openxmlformats.org/drawingml/2006/table">
            <a:tbl>
              <a:tblPr/>
              <a:tblGrid>
                <a:gridCol w="864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35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7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1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2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3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4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5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6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1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2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ea typeface="新細明體"/>
                          <a:cs typeface="Times New Roman"/>
                        </a:rPr>
                        <a:t>5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3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4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lang="zh-TW" sz="2000" kern="100" dirty="0">
                        <a:solidFill>
                          <a:srgbClr val="FF0000"/>
                        </a:solidFill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1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5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1919536" y="-387424"/>
            <a:ext cx="74676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TW" altLang="en-US" sz="4000" dirty="0">
                <a:solidFill>
                  <a:srgbClr val="00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相關文獻 </a:t>
            </a:r>
            <a:r>
              <a:rPr lang="en-US" altLang="zh-TW" sz="4000" dirty="0">
                <a:solidFill>
                  <a:srgbClr val="00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-1</a:t>
            </a:r>
            <a:endParaRPr lang="zh-TW" altLang="en-US" sz="4000" dirty="0">
              <a:solidFill>
                <a:srgbClr val="0099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6387" name="內容版面配置區 3"/>
          <p:cNvSpPr>
            <a:spLocks noGrp="1"/>
          </p:cNvSpPr>
          <p:nvPr>
            <p:ph sz="quarter" idx="1"/>
          </p:nvPr>
        </p:nvSpPr>
        <p:spPr>
          <a:xfrm>
            <a:off x="1991544" y="764705"/>
            <a:ext cx="8218488" cy="4873625"/>
          </a:xfrm>
        </p:spPr>
        <p:txBody>
          <a:bodyPr/>
          <a:lstStyle/>
          <a:p>
            <a:r>
              <a:rPr lang="en-US" altLang="zh-TW" dirty="0"/>
              <a:t>Item-Based Collaborative Filtering</a:t>
            </a:r>
            <a:endParaRPr lang="zh-TW" altLang="en-US" dirty="0"/>
          </a:p>
        </p:txBody>
      </p:sp>
      <p:sp>
        <p:nvSpPr>
          <p:cNvPr id="16388" name="投影片編號版面配置區 1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fld id="{6B9316E4-5E31-4F1A-A433-D07927DB76E5}" type="slidenum">
              <a:rPr lang="zh-TW" altLang="en-US" smtClean="0">
                <a:ea typeface="新細明體" pitchFamily="18" charset="-120"/>
              </a:rPr>
              <a:pPr/>
              <a:t>3</a:t>
            </a:fld>
            <a:endParaRPr lang="en-US" altLang="zh-TW">
              <a:ea typeface="新細明體" pitchFamily="18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495601" y="1268760"/>
          <a:ext cx="6264695" cy="1944216"/>
        </p:xfrm>
        <a:graphic>
          <a:graphicData uri="http://schemas.openxmlformats.org/drawingml/2006/table">
            <a:tbl>
              <a:tblPr/>
              <a:tblGrid>
                <a:gridCol w="864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35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7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40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1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2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3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4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5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6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1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2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ea typeface="新細明體"/>
                          <a:cs typeface="Times New Roman"/>
                        </a:rPr>
                        <a:t>5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3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4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lang="zh-TW" sz="2000" kern="100" dirty="0">
                        <a:solidFill>
                          <a:srgbClr val="FF0000"/>
                        </a:solidFill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5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>
            <a:spLocks noChangeArrowheads="1"/>
          </p:cNvSpPr>
          <p:nvPr/>
        </p:nvSpPr>
        <p:spPr bwMode="auto">
          <a:xfrm>
            <a:off x="1919536" y="3429001"/>
            <a:ext cx="792088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dirty="0"/>
              <a:t>Sim</a:t>
            </a:r>
            <a:r>
              <a:rPr lang="en-US" altLang="zh-TW" baseline="-25000" dirty="0"/>
              <a:t>I5,</a:t>
            </a:r>
            <a:r>
              <a:rPr lang="en-US" altLang="zh-TW" dirty="0"/>
              <a:t> </a:t>
            </a:r>
            <a:r>
              <a:rPr lang="en-US" altLang="zh-TW" baseline="-25000" dirty="0"/>
              <a:t>I1</a:t>
            </a:r>
            <a:r>
              <a:rPr lang="en-US" altLang="zh-TW" dirty="0"/>
              <a:t>=(4*4)/ √(4)</a:t>
            </a:r>
            <a:r>
              <a:rPr lang="en-US" altLang="zh-TW" baseline="30000" dirty="0"/>
              <a:t>2</a:t>
            </a:r>
            <a:r>
              <a:rPr lang="en-US" altLang="zh-TW" dirty="0"/>
              <a:t>*(4)</a:t>
            </a:r>
            <a:r>
              <a:rPr lang="en-US" altLang="zh-TW" baseline="30000" dirty="0"/>
              <a:t>2</a:t>
            </a:r>
            <a:r>
              <a:rPr lang="en-US" altLang="zh-TW" dirty="0"/>
              <a:t>=1</a:t>
            </a:r>
          </a:p>
          <a:p>
            <a:r>
              <a:rPr lang="en-US" altLang="zh-TW" dirty="0"/>
              <a:t>Sim</a:t>
            </a:r>
            <a:r>
              <a:rPr lang="en-US" altLang="zh-TW" baseline="-25000" dirty="0"/>
              <a:t>I5,</a:t>
            </a:r>
            <a:r>
              <a:rPr lang="en-US" altLang="zh-TW" dirty="0"/>
              <a:t> </a:t>
            </a:r>
            <a:r>
              <a:rPr lang="en-US" altLang="zh-TW" baseline="-25000" dirty="0"/>
              <a:t>I2</a:t>
            </a:r>
            <a:r>
              <a:rPr lang="en-US" altLang="zh-TW" dirty="0"/>
              <a:t>=(1*3)+(2*1)/ √(1)</a:t>
            </a:r>
            <a:r>
              <a:rPr lang="en-US" altLang="zh-TW" baseline="30000" dirty="0"/>
              <a:t>2</a:t>
            </a:r>
            <a:r>
              <a:rPr lang="en-US" altLang="zh-TW" dirty="0"/>
              <a:t>+(2)</a:t>
            </a:r>
            <a:r>
              <a:rPr lang="en-US" altLang="zh-TW" baseline="30000" dirty="0"/>
              <a:t>2</a:t>
            </a:r>
            <a:r>
              <a:rPr lang="en-US" altLang="zh-TW" dirty="0"/>
              <a:t>* √( 3)</a:t>
            </a:r>
            <a:r>
              <a:rPr lang="en-US" altLang="zh-TW" baseline="30000" dirty="0"/>
              <a:t>2</a:t>
            </a:r>
            <a:r>
              <a:rPr lang="en-US" altLang="zh-TW" dirty="0"/>
              <a:t>+(1)</a:t>
            </a:r>
            <a:r>
              <a:rPr lang="en-US" altLang="zh-TW" baseline="30000" dirty="0"/>
              <a:t>2</a:t>
            </a:r>
            <a:r>
              <a:rPr lang="en-US" altLang="zh-TW" dirty="0"/>
              <a:t>=5/2.24*3.16=5/7.08=0.71</a:t>
            </a:r>
          </a:p>
          <a:p>
            <a:r>
              <a:rPr lang="en-US" altLang="zh-TW" dirty="0"/>
              <a:t>Sim</a:t>
            </a:r>
            <a:r>
              <a:rPr lang="en-US" altLang="zh-TW" baseline="-25000" dirty="0"/>
              <a:t>I5,</a:t>
            </a:r>
            <a:r>
              <a:rPr lang="en-US" altLang="zh-TW" dirty="0"/>
              <a:t> </a:t>
            </a:r>
            <a:r>
              <a:rPr lang="en-US" altLang="zh-TW" baseline="-25000" dirty="0"/>
              <a:t>I4</a:t>
            </a:r>
            <a:r>
              <a:rPr lang="en-US" altLang="zh-TW" dirty="0"/>
              <a:t>=(4*5)+(2*2)/ √(4)</a:t>
            </a:r>
            <a:r>
              <a:rPr lang="en-US" altLang="zh-TW" baseline="30000" dirty="0"/>
              <a:t>2</a:t>
            </a:r>
            <a:r>
              <a:rPr lang="en-US" altLang="zh-TW" dirty="0"/>
              <a:t>+(2)</a:t>
            </a:r>
            <a:r>
              <a:rPr lang="en-US" altLang="zh-TW" baseline="30000" dirty="0"/>
              <a:t>2</a:t>
            </a:r>
            <a:r>
              <a:rPr lang="en-US" altLang="zh-TW" dirty="0"/>
              <a:t>* √( 5)</a:t>
            </a:r>
            <a:r>
              <a:rPr lang="en-US" altLang="zh-TW" baseline="30000" dirty="0"/>
              <a:t>2</a:t>
            </a:r>
            <a:r>
              <a:rPr lang="en-US" altLang="zh-TW" dirty="0"/>
              <a:t>+(2)</a:t>
            </a:r>
            <a:r>
              <a:rPr lang="en-US" altLang="zh-TW" baseline="30000" dirty="0"/>
              <a:t>2</a:t>
            </a:r>
            <a:r>
              <a:rPr lang="en-US" altLang="zh-TW" dirty="0"/>
              <a:t>=24/4.47*5.39=24/24.1=1</a:t>
            </a:r>
          </a:p>
          <a:p>
            <a:r>
              <a:rPr lang="en-US" altLang="zh-TW" dirty="0"/>
              <a:t>Sim</a:t>
            </a:r>
            <a:r>
              <a:rPr lang="en-US" altLang="zh-TW" baseline="-25000" dirty="0"/>
              <a:t>I5,</a:t>
            </a:r>
            <a:r>
              <a:rPr lang="en-US" altLang="zh-TW" dirty="0"/>
              <a:t> </a:t>
            </a:r>
            <a:r>
              <a:rPr lang="en-US" altLang="zh-TW" baseline="-25000" dirty="0"/>
              <a:t>I6</a:t>
            </a:r>
            <a:r>
              <a:rPr lang="en-US" altLang="zh-TW" dirty="0"/>
              <a:t>=(4*2)+(2*3)/ √(4)</a:t>
            </a:r>
            <a:r>
              <a:rPr lang="en-US" altLang="zh-TW" baseline="30000" dirty="0"/>
              <a:t>2</a:t>
            </a:r>
            <a:r>
              <a:rPr lang="en-US" altLang="zh-TW" dirty="0"/>
              <a:t>+(2)</a:t>
            </a:r>
            <a:r>
              <a:rPr lang="en-US" altLang="zh-TW" baseline="30000" dirty="0"/>
              <a:t>2</a:t>
            </a:r>
            <a:r>
              <a:rPr lang="en-US" altLang="zh-TW" dirty="0"/>
              <a:t>* √( 2)</a:t>
            </a:r>
            <a:r>
              <a:rPr lang="en-US" altLang="zh-TW" baseline="30000" dirty="0"/>
              <a:t>2</a:t>
            </a:r>
            <a:r>
              <a:rPr lang="en-US" altLang="zh-TW" dirty="0"/>
              <a:t>+(3)</a:t>
            </a:r>
            <a:r>
              <a:rPr lang="en-US" altLang="zh-TW" baseline="30000" dirty="0"/>
              <a:t>2</a:t>
            </a:r>
            <a:r>
              <a:rPr lang="en-US" altLang="zh-TW" dirty="0"/>
              <a:t>=14/4.47*3.61=14/16.14=0.87</a:t>
            </a:r>
          </a:p>
          <a:p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r</a:t>
            </a:r>
            <a:r>
              <a:rPr lang="en-US" altLang="zh-TW" b="1" baseline="-25000" dirty="0">
                <a:latin typeface="Courier New" pitchFamily="49" charset="0"/>
                <a:cs typeface="Courier New" pitchFamily="49" charset="0"/>
              </a:rPr>
              <a:t>u4, I5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=4*1+2*0.71+2*1/1+0.71+1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    =4+1.42+2/2.71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    =7.42/2.71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    =2.74</a:t>
            </a:r>
            <a:endParaRPr lang="zh-TW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1919536" y="-387424"/>
            <a:ext cx="74676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TW" altLang="en-US" sz="4000" dirty="0">
                <a:solidFill>
                  <a:srgbClr val="00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相關文獻 </a:t>
            </a:r>
            <a:r>
              <a:rPr lang="en-US" altLang="zh-TW" sz="4000" dirty="0">
                <a:solidFill>
                  <a:srgbClr val="00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-2</a:t>
            </a:r>
            <a:endParaRPr lang="zh-TW" altLang="en-US" sz="4000" dirty="0">
              <a:solidFill>
                <a:srgbClr val="0099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6387" name="內容版面配置區 3"/>
          <p:cNvSpPr>
            <a:spLocks noGrp="1"/>
          </p:cNvSpPr>
          <p:nvPr>
            <p:ph sz="quarter" idx="1"/>
          </p:nvPr>
        </p:nvSpPr>
        <p:spPr>
          <a:xfrm>
            <a:off x="1991544" y="764705"/>
            <a:ext cx="8218488" cy="4873625"/>
          </a:xfrm>
        </p:spPr>
        <p:txBody>
          <a:bodyPr/>
          <a:lstStyle/>
          <a:p>
            <a:r>
              <a:rPr lang="en-US" altLang="zh-TW" dirty="0"/>
              <a:t>User-Based Collaborative Filtering</a:t>
            </a:r>
            <a:endParaRPr lang="zh-TW" altLang="en-US" dirty="0"/>
          </a:p>
        </p:txBody>
      </p:sp>
      <p:sp>
        <p:nvSpPr>
          <p:cNvPr id="16388" name="投影片編號版面配置區 1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fld id="{6B9316E4-5E31-4F1A-A433-D07927DB76E5}" type="slidenum">
              <a:rPr lang="zh-TW" altLang="en-US" smtClean="0">
                <a:ea typeface="新細明體" pitchFamily="18" charset="-120"/>
              </a:rPr>
              <a:pPr/>
              <a:t>4</a:t>
            </a:fld>
            <a:endParaRPr lang="en-US" altLang="zh-TW">
              <a:ea typeface="新細明體" pitchFamily="18" charset="-120"/>
            </a:endParaRPr>
          </a:p>
        </p:txBody>
      </p:sp>
      <p:sp>
        <p:nvSpPr>
          <p:cNvPr id="6" name="文字方塊 5"/>
          <p:cNvSpPr txBox="1">
            <a:spLocks noChangeArrowheads="1"/>
          </p:cNvSpPr>
          <p:nvPr/>
        </p:nvSpPr>
        <p:spPr bwMode="auto">
          <a:xfrm>
            <a:off x="1703513" y="3212976"/>
            <a:ext cx="8569325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dirty="0"/>
              <a:t>Sim</a:t>
            </a:r>
            <a:r>
              <a:rPr lang="en-US" altLang="zh-TW" baseline="-25000" dirty="0"/>
              <a:t>u4,</a:t>
            </a:r>
            <a:r>
              <a:rPr lang="en-US" altLang="zh-TW" dirty="0"/>
              <a:t> </a:t>
            </a:r>
            <a:r>
              <a:rPr lang="en-US" altLang="zh-TW" baseline="-25000" dirty="0"/>
              <a:t>u1</a:t>
            </a:r>
            <a:r>
              <a:rPr lang="en-US" altLang="zh-TW" dirty="0"/>
              <a:t>=(2*3)/√(2)</a:t>
            </a:r>
            <a:r>
              <a:rPr lang="en-US" altLang="zh-TW" baseline="30000" dirty="0"/>
              <a:t>2</a:t>
            </a:r>
            <a:r>
              <a:rPr lang="en-US" altLang="zh-TW" dirty="0"/>
              <a:t>* √( 3)</a:t>
            </a:r>
            <a:r>
              <a:rPr lang="en-US" altLang="zh-TW" baseline="30000" dirty="0"/>
              <a:t>2</a:t>
            </a:r>
            <a:r>
              <a:rPr lang="en-US" altLang="zh-TW" dirty="0"/>
              <a:t>=6/3.61=1.66</a:t>
            </a:r>
          </a:p>
          <a:p>
            <a:r>
              <a:rPr lang="en-US" altLang="zh-TW" dirty="0"/>
              <a:t>Sim</a:t>
            </a:r>
            <a:r>
              <a:rPr lang="en-US" altLang="zh-TW" baseline="-25000" dirty="0"/>
              <a:t>u4,</a:t>
            </a:r>
            <a:r>
              <a:rPr lang="en-US" altLang="zh-TW" dirty="0"/>
              <a:t> </a:t>
            </a:r>
            <a:r>
              <a:rPr lang="en-US" altLang="zh-TW" baseline="-25000" dirty="0"/>
              <a:t>u2</a:t>
            </a:r>
            <a:r>
              <a:rPr lang="en-US" altLang="zh-TW" dirty="0"/>
              <a:t>=(4*4+2*5)/√(4)</a:t>
            </a:r>
            <a:r>
              <a:rPr lang="en-US" altLang="zh-TW" baseline="30000" dirty="0"/>
              <a:t>2</a:t>
            </a:r>
            <a:r>
              <a:rPr lang="en-US" altLang="zh-TW" dirty="0"/>
              <a:t> + (2)</a:t>
            </a:r>
            <a:r>
              <a:rPr lang="en-US" altLang="zh-TW" baseline="30000" dirty="0"/>
              <a:t>2</a:t>
            </a:r>
            <a:r>
              <a:rPr lang="en-US" altLang="zh-TW" dirty="0"/>
              <a:t> * √( 4)</a:t>
            </a:r>
            <a:r>
              <a:rPr lang="en-US" altLang="zh-TW" baseline="30000" dirty="0"/>
              <a:t>2</a:t>
            </a:r>
            <a:r>
              <a:rPr lang="en-US" altLang="zh-TW" dirty="0"/>
              <a:t> + (5)</a:t>
            </a:r>
            <a:r>
              <a:rPr lang="en-US" altLang="zh-TW" baseline="30000" dirty="0"/>
              <a:t>2</a:t>
            </a:r>
            <a:r>
              <a:rPr lang="en-US" altLang="zh-TW" dirty="0"/>
              <a:t> =26/4.47*6.4=26/28.61=0.91</a:t>
            </a:r>
          </a:p>
          <a:p>
            <a:r>
              <a:rPr lang="en-US" altLang="zh-TW" dirty="0"/>
              <a:t>Sim</a:t>
            </a:r>
            <a:r>
              <a:rPr lang="en-US" altLang="zh-TW" baseline="-25000" dirty="0"/>
              <a:t>u4,</a:t>
            </a:r>
            <a:r>
              <a:rPr lang="en-US" altLang="zh-TW" dirty="0"/>
              <a:t> </a:t>
            </a:r>
            <a:r>
              <a:rPr lang="en-US" altLang="zh-TW" baseline="-25000" dirty="0"/>
              <a:t>u3</a:t>
            </a:r>
            <a:r>
              <a:rPr lang="en-US" altLang="zh-TW" dirty="0"/>
              <a:t>=(2*1+2*2)/√(2)</a:t>
            </a:r>
            <a:r>
              <a:rPr lang="en-US" altLang="zh-TW" baseline="30000" dirty="0"/>
              <a:t>2</a:t>
            </a:r>
            <a:r>
              <a:rPr lang="en-US" altLang="zh-TW" dirty="0"/>
              <a:t> + (2)</a:t>
            </a:r>
            <a:r>
              <a:rPr lang="en-US" altLang="zh-TW" baseline="30000" dirty="0"/>
              <a:t>2</a:t>
            </a:r>
            <a:r>
              <a:rPr lang="en-US" altLang="zh-TW" dirty="0"/>
              <a:t> * √( 1)</a:t>
            </a:r>
            <a:r>
              <a:rPr lang="en-US" altLang="zh-TW" baseline="30000" dirty="0"/>
              <a:t>2</a:t>
            </a:r>
            <a:r>
              <a:rPr lang="en-US" altLang="zh-TW" dirty="0"/>
              <a:t> + (2)</a:t>
            </a:r>
            <a:r>
              <a:rPr lang="en-US" altLang="zh-TW" baseline="30000" dirty="0"/>
              <a:t>2</a:t>
            </a:r>
            <a:r>
              <a:rPr lang="en-US" altLang="zh-TW" dirty="0"/>
              <a:t> =6/2.83*2.24=6/6.34=0.95</a:t>
            </a:r>
          </a:p>
          <a:p>
            <a:endParaRPr lang="en-US" altLang="zh-TW" dirty="0"/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r</a:t>
            </a:r>
            <a:r>
              <a:rPr lang="en-US" altLang="zh-TW" b="1" baseline="-25000" dirty="0">
                <a:latin typeface="Courier New" pitchFamily="49" charset="0"/>
                <a:cs typeface="Courier New" pitchFamily="49" charset="0"/>
              </a:rPr>
              <a:t>u4, I5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=1*1.66+4*0.91+2*0.95/1.66+0.91+0.95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    =1.66+0.72+1.9/3.52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    =7.2/3.52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    =2.05</a:t>
            </a:r>
            <a:endParaRPr lang="zh-TW" altLang="en-US" b="1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567609" y="1268760"/>
          <a:ext cx="6264695" cy="1828800"/>
        </p:xfrm>
        <a:graphic>
          <a:graphicData uri="http://schemas.openxmlformats.org/drawingml/2006/table">
            <a:tbl>
              <a:tblPr/>
              <a:tblGrid>
                <a:gridCol w="864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35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7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1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2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3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4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5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item 6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1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2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ea typeface="新細明體"/>
                          <a:cs typeface="Times New Roman"/>
                        </a:rPr>
                        <a:t>5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3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4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lang="zh-TW" sz="2000" kern="100" dirty="0">
                        <a:solidFill>
                          <a:srgbClr val="FF0000"/>
                        </a:solidFill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1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標楷體" pitchFamily="65" charset="-120"/>
                          <a:cs typeface="Times New Roman" pitchFamily="18" charset="0"/>
                        </a:rPr>
                        <a:t>user 5</a:t>
                      </a:r>
                      <a:endParaRPr kumimoji="0" lang="zh-TW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lang="zh-TW" sz="2000" kern="100" dirty="0">
                        <a:latin typeface="Calibri"/>
                        <a:cs typeface="新細明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Microsoft Office PowerPoint</Application>
  <PresentationFormat>寬螢幕</PresentationFormat>
  <Paragraphs>202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4" baseType="lpstr">
      <vt:lpstr>微軟正黑體</vt:lpstr>
      <vt:lpstr>新細明體</vt:lpstr>
      <vt:lpstr>Aptos</vt:lpstr>
      <vt:lpstr>Aptos Display</vt:lpstr>
      <vt:lpstr>Arial</vt:lpstr>
      <vt:lpstr>Calibri</vt:lpstr>
      <vt:lpstr>Century Schoolbook</vt:lpstr>
      <vt:lpstr>Courier New</vt:lpstr>
      <vt:lpstr>Wingdings 2</vt:lpstr>
      <vt:lpstr>Office 佈景主題</vt:lpstr>
      <vt:lpstr>問題描述</vt:lpstr>
      <vt:lpstr>研究動機</vt:lpstr>
      <vt:lpstr>相關文獻 -1</vt:lpstr>
      <vt:lpstr>相關文獻 -2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蘇家輝</dc:creator>
  <cp:lastModifiedBy>蘇家輝</cp:lastModifiedBy>
  <cp:revision>1</cp:revision>
  <dcterms:created xsi:type="dcterms:W3CDTF">2026-03-20T05:19:38Z</dcterms:created>
  <dcterms:modified xsi:type="dcterms:W3CDTF">2026-03-20T05:20:08Z</dcterms:modified>
</cp:coreProperties>
</file>